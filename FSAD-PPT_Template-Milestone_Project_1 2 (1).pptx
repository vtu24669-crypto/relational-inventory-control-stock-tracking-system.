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9" r:id="rId12"/>
    <p:sldId id="267" r:id="rId13"/>
    <p:sldId id="268" r:id="rId14"/>
    <p:sldId id="270" r:id="rId15"/>
    <p:sldId id="265" r:id="rId16"/>
  </p:sldIdLst>
  <p:sldSz cx="18288000" cy="10287000"/>
  <p:notesSz cx="6858000" cy="9144000"/>
  <p:embeddedFontLst>
    <p:embeddedFont>
      <p:font typeface="Bookman Old Style" panose="02050604050505020204" pitchFamily="18" charset="0"/>
      <p:regular r:id="rId17"/>
      <p:bold r:id="rId18"/>
      <p:italic r:id="rId19"/>
      <p:boldItalic r:id="rId20"/>
    </p:embeddedFont>
    <p:embeddedFont>
      <p:font typeface="Cambria" panose="02040503050406030204" pitchFamily="18" charset="0"/>
      <p:regular r:id="rId21"/>
      <p:bold r:id="rId22"/>
      <p:italic r:id="rId23"/>
      <p:boldItalic r:id="rId24"/>
    </p:embeddedFont>
    <p:embeddedFont>
      <p:font typeface="Gotham" panose="020B0604020202020204" charset="0"/>
      <p:regular r:id="rId25"/>
    </p:embeddedFont>
    <p:embeddedFont>
      <p:font typeface="Gotham Bold Italics" panose="020B0604020202020204" charset="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08279E7-AFCE-FFA9-E056-CE04073B4864}" v="40" dt="2026-03-25T17:30:16.655"/>
    <p1510:client id="{6374A8C6-4AA2-801F-50CF-AEA6FE18591C}" v="72" dt="2026-03-25T16:17:12.879"/>
    <p1510:client id="{85450380-8EC0-279F-6A9F-A5FA7A7EDFAB}" v="138" dt="2026-03-25T17:15:24.1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8080" TargetMode="Externa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4" Type="http://schemas.openxmlformats.org/officeDocument/2006/relationships/hyperlink" Target="http://192.168.29.222:8080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9965724" y="-1383136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1194AAA3-5CF4-E695-04C9-0894FFF6F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0443" y="196689"/>
            <a:ext cx="4752247" cy="136061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B0EB85C-D9CE-08DC-1131-77C9DD1A002D}"/>
              </a:ext>
            </a:extLst>
          </p:cNvPr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</a:p>
          <a:p>
            <a:pPr algn="ctr"/>
            <a:r>
              <a:rPr lang="en-US" sz="3200" b="1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785AF5-58C8-2624-E1FD-4723B0683DE6}"/>
              </a:ext>
            </a:extLst>
          </p:cNvPr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6C53BF-3850-6683-E07F-D595EC8B02B2}"/>
              </a:ext>
            </a:extLst>
          </p:cNvPr>
          <p:cNvSpPr txBox="1"/>
          <p:nvPr/>
        </p:nvSpPr>
        <p:spPr>
          <a:xfrm>
            <a:off x="3727757" y="3897940"/>
            <a:ext cx="11190289" cy="175432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IN" sz="3600" b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REVIEW : MILESTONE PROJECT – 1</a:t>
            </a:r>
          </a:p>
          <a:p>
            <a:pPr algn="ctr"/>
            <a:endParaRPr lang="en-IN" sz="3600" b="1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>
                <a:solidFill>
                  <a:srgbClr val="C00000"/>
                </a:solidFill>
                <a:latin typeface="Arial"/>
                <a:cs typeface="Arial"/>
              </a:rPr>
              <a:t>Date: 25-03-2026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FE0DA2-4723-7C13-5FD7-FC99B0394DDD}"/>
              </a:ext>
            </a:extLst>
          </p:cNvPr>
          <p:cNvSpPr txBox="1"/>
          <p:nvPr/>
        </p:nvSpPr>
        <p:spPr>
          <a:xfrm>
            <a:off x="1360722" y="6057900"/>
            <a:ext cx="15784162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3200" b="1">
                <a:solidFill>
                  <a:srgbClr val="0033CC"/>
                </a:solidFill>
                <a:ea typeface="+mn-lt"/>
                <a:cs typeface="+mn-lt"/>
              </a:rPr>
              <a:t>Relational Inventory Control &amp; Stock Tracking System</a:t>
            </a:r>
            <a:endParaRPr lang="en-US" b="1">
              <a:ea typeface="Calibri"/>
              <a:cs typeface="Calibri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8EEF4A-EB43-B7D9-87FC-7C7D752BCA78}"/>
              </a:ext>
            </a:extLst>
          </p:cNvPr>
          <p:cNvSpPr txBox="1"/>
          <p:nvPr/>
        </p:nvSpPr>
        <p:spPr>
          <a:xfrm>
            <a:off x="893870" y="7800539"/>
            <a:ext cx="9067800" cy="13916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US" sz="3000">
                <a:latin typeface="Cambria"/>
                <a:ea typeface="Cambria"/>
              </a:rPr>
              <a:t>A Harshith Reddy– VTU24669 – 23UECS0655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F32D1A-2F9C-AC53-CCBD-ABF748DF236F}"/>
              </a:ext>
            </a:extLst>
          </p:cNvPr>
          <p:cNvSpPr txBox="1"/>
          <p:nvPr/>
        </p:nvSpPr>
        <p:spPr>
          <a:xfrm>
            <a:off x="10945035" y="7818586"/>
            <a:ext cx="6914603" cy="13916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</a:p>
          <a:p>
            <a:pPr>
              <a:lnSpc>
                <a:spcPct val="150000"/>
              </a:lnSpc>
            </a:pPr>
            <a:r>
              <a:rPr lang="en-US" sz="3000">
                <a:latin typeface="Cambria"/>
                <a:ea typeface="Cambria"/>
              </a:rPr>
              <a:t>Dr.</a:t>
            </a:r>
            <a:r>
              <a:rPr lang="en-US" sz="3000" dirty="0">
                <a:latin typeface="Cambria"/>
                <a:ea typeface="Cambria"/>
                <a:cs typeface="Times New Roman"/>
              </a:rPr>
              <a:t> </a:t>
            </a:r>
            <a:r>
              <a:rPr lang="en-US" sz="3000">
                <a:latin typeface="Times New Roman"/>
                <a:ea typeface="+mn-lt"/>
                <a:cs typeface="Times New Roman"/>
              </a:rPr>
              <a:t>Hafizur Rahman</a:t>
            </a:r>
            <a:endParaRPr lang="en-IN" sz="3000">
              <a:latin typeface="Times New Roman"/>
              <a:ea typeface="Cambria"/>
              <a:cs typeface="Times New Roman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AA51DE-E8D7-A1B4-BC0D-B25C8A0C467A}"/>
              </a:ext>
            </a:extLst>
          </p:cNvPr>
          <p:cNvSpPr txBox="1"/>
          <p:nvPr/>
        </p:nvSpPr>
        <p:spPr>
          <a:xfrm>
            <a:off x="2209800" y="7128875"/>
            <a:ext cx="14743170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>
                <a:ea typeface="+mn-lt"/>
                <a:cs typeface="+mn-lt"/>
              </a:rPr>
              <a:t>SDG: SDG 9 – Industry, Innovation and Infrastructure</a:t>
            </a:r>
            <a:endParaRPr lang="en-US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E796552-E8BF-2718-F921-20F9BAE7EE98}"/>
              </a:ext>
            </a:extLst>
          </p:cNvPr>
          <p:cNvSpPr txBox="1"/>
          <p:nvPr/>
        </p:nvSpPr>
        <p:spPr>
          <a:xfrm>
            <a:off x="152400" y="342900"/>
            <a:ext cx="1813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7E9E58-77B6-079D-9D0D-E380CADAD23D}"/>
              </a:ext>
            </a:extLst>
          </p:cNvPr>
          <p:cNvSpPr txBox="1"/>
          <p:nvPr/>
        </p:nvSpPr>
        <p:spPr>
          <a:xfrm>
            <a:off x="2209800" y="1638300"/>
            <a:ext cx="15051010" cy="483209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endParaRPr lang="en-US" sz="2800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endParaRPr lang="en-US" sz="2800">
              <a:ea typeface="+mn-lt"/>
              <a:cs typeface="+mn-lt"/>
            </a:endParaRPr>
          </a:p>
          <a:p>
            <a:r>
              <a:rPr lang="en-US" sz="2800">
                <a:ea typeface="+mn-lt"/>
                <a:cs typeface="+mn-lt"/>
              </a:rPr>
              <a:t>Many businesses still manage inventory manually using paper or basic tools.</a:t>
            </a:r>
            <a:endParaRPr lang="en-US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sz="2800">
                <a:ea typeface="+mn-lt"/>
                <a:cs typeface="+mn-lt"/>
              </a:rPr>
              <a:t>Manual methods are slow and can lead to mistakes and data loss.</a:t>
            </a:r>
            <a:endParaRPr lang="en-US"/>
          </a:p>
          <a:p>
            <a:pPr>
              <a:buFont typeface="Arial"/>
              <a:buChar char="•"/>
            </a:pPr>
            <a:r>
              <a:rPr lang="en-US" sz="2800">
                <a:ea typeface="+mn-lt"/>
                <a:cs typeface="+mn-lt"/>
              </a:rPr>
              <a:t>It becomes difficult to track stock levels and product details accurately.</a:t>
            </a:r>
            <a:endParaRPr lang="en-US"/>
          </a:p>
          <a:p>
            <a:pPr>
              <a:buFont typeface="Arial"/>
              <a:buChar char="•"/>
            </a:pPr>
            <a:r>
              <a:rPr lang="en-US" sz="2800">
                <a:ea typeface="+mn-lt"/>
                <a:cs typeface="+mn-lt"/>
              </a:rPr>
              <a:t>This project is important because it provides an easy and automated solution.</a:t>
            </a:r>
            <a:endParaRPr lang="en-US"/>
          </a:p>
          <a:p>
            <a:pPr>
              <a:buFont typeface="Arial"/>
              <a:buChar char="•"/>
            </a:pPr>
            <a:r>
              <a:rPr lang="en-US" sz="2800">
                <a:ea typeface="+mn-lt"/>
                <a:cs typeface="+mn-lt"/>
              </a:rPr>
              <a:t>It helps save time and reduces human errors in managing inventory.</a:t>
            </a:r>
            <a:endParaRPr lang="en-US"/>
          </a:p>
          <a:p>
            <a:pPr>
              <a:buFont typeface="Arial"/>
              <a:buChar char="•"/>
            </a:pPr>
            <a:r>
              <a:rPr lang="en-US" sz="2800">
                <a:ea typeface="+mn-lt"/>
                <a:cs typeface="+mn-lt"/>
              </a:rPr>
              <a:t>The system is useful in real-world places like shops, warehouses, and companies.</a:t>
            </a:r>
            <a:endParaRPr lang="en-US"/>
          </a:p>
          <a:p>
            <a:pPr>
              <a:buFont typeface="Arial"/>
              <a:buChar char="•"/>
            </a:pPr>
            <a:r>
              <a:rPr lang="en-US" sz="2800">
                <a:ea typeface="+mn-lt"/>
                <a:cs typeface="+mn-lt"/>
              </a:rPr>
              <a:t>It allows users to store, update, and manage product information efficiently.</a:t>
            </a:r>
            <a:endParaRPr lang="en-US"/>
          </a:p>
          <a:p>
            <a:pPr>
              <a:buFont typeface="Arial"/>
              <a:buChar char="•"/>
            </a:pPr>
            <a:r>
              <a:rPr lang="en-US" sz="2800">
                <a:ea typeface="+mn-lt"/>
                <a:cs typeface="+mn-lt"/>
              </a:rPr>
              <a:t>Overall, it is a simple system that improves inventory control and stock tracking.</a:t>
            </a:r>
            <a:endParaRPr lang="en-US"/>
          </a:p>
          <a:p>
            <a:pPr marL="457200" indent="-457200">
              <a:buFontTx/>
              <a:buChar char="-"/>
            </a:pPr>
            <a:endParaRPr lang="en-US" sz="280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A8A7B8E9-D90B-1CF8-14D3-8D2483CAFC5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DE2941C-1504-53F9-99B2-48002CA9A345}"/>
              </a:ext>
            </a:extLst>
          </p:cNvPr>
          <p:cNvSpPr txBox="1"/>
          <p:nvPr/>
        </p:nvSpPr>
        <p:spPr>
          <a:xfrm>
            <a:off x="1865334" y="2014080"/>
            <a:ext cx="15395476" cy="397031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buFont typeface="Arial"/>
              <a:buChar char="•"/>
            </a:pPr>
            <a:r>
              <a:rPr lang="en-US" sz="2800">
                <a:ea typeface="+mn-lt"/>
                <a:cs typeface="+mn-lt"/>
              </a:rPr>
              <a:t>Many businesses still use manual methods to manage inventory. </a:t>
            </a:r>
            <a:endParaRPr lang="en-US"/>
          </a:p>
          <a:p>
            <a:pPr>
              <a:buFont typeface="Arial"/>
              <a:buChar char="•"/>
            </a:pPr>
            <a:r>
              <a:rPr lang="en-US" sz="2800">
                <a:ea typeface="+mn-lt"/>
                <a:cs typeface="+mn-lt"/>
              </a:rPr>
              <a:t>This process is time-consuming and not efficient. </a:t>
            </a:r>
            <a:endParaRPr lang="en-US"/>
          </a:p>
          <a:p>
            <a:pPr>
              <a:buFont typeface="Arial"/>
              <a:buChar char="•"/>
            </a:pPr>
            <a:r>
              <a:rPr lang="en-US" sz="2800">
                <a:ea typeface="+mn-lt"/>
                <a:cs typeface="+mn-lt"/>
              </a:rPr>
              <a:t>There are high chances of human errors in data entry. </a:t>
            </a:r>
            <a:endParaRPr lang="en-US"/>
          </a:p>
          <a:p>
            <a:pPr>
              <a:buFont typeface="Arial"/>
              <a:buChar char="•"/>
            </a:pPr>
            <a:r>
              <a:rPr lang="en-US" sz="2800">
                <a:ea typeface="+mn-lt"/>
                <a:cs typeface="+mn-lt"/>
              </a:rPr>
              <a:t>It is difficult to track stock levels in real-time. </a:t>
            </a:r>
            <a:endParaRPr lang="en-US"/>
          </a:p>
          <a:p>
            <a:pPr>
              <a:buFont typeface="Arial"/>
              <a:buChar char="•"/>
            </a:pPr>
            <a:r>
              <a:rPr lang="en-US" sz="2800">
                <a:ea typeface="+mn-lt"/>
                <a:cs typeface="+mn-lt"/>
              </a:rPr>
              <a:t>Sometimes products go out of stock without proper notice. </a:t>
            </a:r>
            <a:endParaRPr lang="en-US"/>
          </a:p>
          <a:p>
            <a:pPr>
              <a:buFont typeface="Arial"/>
              <a:buChar char="•"/>
            </a:pPr>
            <a:r>
              <a:rPr lang="en-US" sz="2800">
                <a:ea typeface="+mn-lt"/>
                <a:cs typeface="+mn-lt"/>
              </a:rPr>
              <a:t>Data may be lost or not updated correctly. </a:t>
            </a:r>
            <a:endParaRPr lang="en-US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2800">
                <a:ea typeface="+mn-lt"/>
                <a:cs typeface="+mn-lt"/>
              </a:rPr>
              <a:t>There is no proper system to generate reports and analysis. </a:t>
            </a:r>
            <a:endParaRPr lang="en-US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2800">
                <a:ea typeface="+mn-lt"/>
                <a:cs typeface="+mn-lt"/>
              </a:rPr>
              <a:t>Hence, there is a need for a simple, reliable, and automated inventory system. </a:t>
            </a:r>
            <a:endParaRPr lang="en-US"/>
          </a:p>
          <a:p>
            <a:pPr marL="457200" indent="-457200">
              <a:buFontTx/>
              <a:buChar char="-"/>
            </a:pPr>
            <a:endParaRPr lang="en-US" sz="280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5B915D36-EE4F-CB45-6DD3-E1B9C803EB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Freeform 10">
            <a:extLst>
              <a:ext uri="{FF2B5EF4-FFF2-40B4-BE49-F238E27FC236}">
                <a16:creationId xmlns:a16="http://schemas.microsoft.com/office/drawing/2014/main" id="{CC7EEF9B-9155-23B5-AEE9-85067B6C258B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56A0A3A-1541-5EC0-5370-02DA282ABDDE}"/>
              </a:ext>
            </a:extLst>
          </p:cNvPr>
          <p:cNvSpPr txBox="1"/>
          <p:nvPr/>
        </p:nvSpPr>
        <p:spPr>
          <a:xfrm>
            <a:off x="2209800" y="1638300"/>
            <a:ext cx="15082325" cy="483209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buFont typeface="Arial"/>
              <a:buChar char="•"/>
            </a:pPr>
            <a:endParaRPr lang="en-US" sz="2800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sz="2800">
                <a:ea typeface="+mn-lt"/>
                <a:cs typeface="+mn-lt"/>
              </a:rPr>
              <a:t>To design and develop a simple Relational Inventory Control &amp; Stock Tracking System.</a:t>
            </a:r>
            <a:endParaRPr lang="en-US"/>
          </a:p>
          <a:p>
            <a:pPr>
              <a:buFont typeface="Arial"/>
              <a:buChar char="•"/>
            </a:pPr>
            <a:r>
              <a:rPr lang="en-US" sz="2800">
                <a:ea typeface="+mn-lt"/>
                <a:cs typeface="+mn-lt"/>
              </a:rPr>
              <a:t>To implement an automated system to manage products and track stock efficiently.</a:t>
            </a:r>
            <a:endParaRPr lang="en-US"/>
          </a:p>
          <a:p>
            <a:pPr>
              <a:buFont typeface="Arial"/>
              <a:buChar char="•"/>
            </a:pPr>
            <a:r>
              <a:rPr lang="en-US" sz="2800">
                <a:ea typeface="+mn-lt"/>
                <a:cs typeface="+mn-lt"/>
              </a:rPr>
              <a:t>To improve accuracy and reduce errors in inventory management.</a:t>
            </a:r>
            <a:endParaRPr lang="en-US"/>
          </a:p>
          <a:p>
            <a:pPr marL="457200" indent="-457200">
              <a:buFontTx/>
              <a:buChar char="-"/>
            </a:pPr>
            <a:endParaRPr lang="en-US" sz="2800">
              <a:ea typeface="Calibri"/>
              <a:cs typeface="Calibri"/>
            </a:endParaRPr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IN" sz="2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5" name="Freeform 10">
            <a:extLst>
              <a:ext uri="{FF2B5EF4-FFF2-40B4-BE49-F238E27FC236}">
                <a16:creationId xmlns:a16="http://schemas.microsoft.com/office/drawing/2014/main" id="{D5D1FD99-C9A7-927E-AD67-E70F11DBAAA2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7218D14-8F44-8040-8BFD-49A59591F527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8F19716-1653-9AE0-442E-B3829A585B46}"/>
              </a:ext>
            </a:extLst>
          </p:cNvPr>
          <p:cNvSpPr txBox="1"/>
          <p:nvPr/>
        </p:nvSpPr>
        <p:spPr>
          <a:xfrm>
            <a:off x="2209800" y="1638300"/>
            <a:ext cx="15082325" cy="44012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endParaRPr lang="en-US" sz="2800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sz="2800">
                <a:ea typeface="+mn-lt"/>
                <a:cs typeface="+mn-lt"/>
              </a:rPr>
              <a:t>The system provides a digital platform to manage inventory easily.</a:t>
            </a:r>
            <a:endParaRPr lang="en-US"/>
          </a:p>
          <a:p>
            <a:pPr>
              <a:buFont typeface="Arial"/>
              <a:buChar char="•"/>
            </a:pPr>
            <a:r>
              <a:rPr lang="en-US" sz="2800">
                <a:ea typeface="+mn-lt"/>
                <a:cs typeface="+mn-lt"/>
              </a:rPr>
              <a:t>Users can add, update, and delete product details.</a:t>
            </a:r>
            <a:endParaRPr lang="en-US"/>
          </a:p>
          <a:p>
            <a:pPr>
              <a:buFont typeface="Arial"/>
              <a:buChar char="•"/>
            </a:pPr>
            <a:r>
              <a:rPr lang="en-US" sz="2800">
                <a:ea typeface="+mn-lt"/>
                <a:cs typeface="+mn-lt"/>
              </a:rPr>
              <a:t>Stock levels are updated automatically in real-time.</a:t>
            </a:r>
            <a:endParaRPr lang="en-US"/>
          </a:p>
          <a:p>
            <a:pPr>
              <a:buFont typeface="Arial"/>
              <a:buChar char="•"/>
            </a:pPr>
            <a:r>
              <a:rPr lang="en-US" sz="2800">
                <a:ea typeface="+mn-lt"/>
                <a:cs typeface="+mn-lt"/>
              </a:rPr>
              <a:t>All data is stored safely in a relational database.</a:t>
            </a:r>
            <a:endParaRPr lang="en-US"/>
          </a:p>
          <a:p>
            <a:pPr>
              <a:buFont typeface="Arial"/>
              <a:buChar char="•"/>
            </a:pPr>
            <a:r>
              <a:rPr lang="en-US" sz="2800">
                <a:ea typeface="+mn-lt"/>
                <a:cs typeface="+mn-lt"/>
              </a:rPr>
              <a:t>It reduces manual work and minimizes human errors.</a:t>
            </a:r>
            <a:endParaRPr lang="en-US"/>
          </a:p>
          <a:p>
            <a:pPr>
              <a:buFont typeface="Arial"/>
              <a:buChar char="•"/>
            </a:pPr>
            <a:r>
              <a:rPr lang="en-US" sz="2800">
                <a:ea typeface="+mn-lt"/>
                <a:cs typeface="+mn-lt"/>
              </a:rPr>
              <a:t>Users can quickly search and view product information.</a:t>
            </a:r>
            <a:endParaRPr lang="en-US"/>
          </a:p>
          <a:p>
            <a:pPr>
              <a:buFont typeface="Arial"/>
              <a:buChar char="•"/>
            </a:pPr>
            <a:r>
              <a:rPr lang="en-US" sz="2800">
                <a:ea typeface="+mn-lt"/>
                <a:cs typeface="+mn-lt"/>
              </a:rPr>
              <a:t>The system can generate simple reports for better decisions.</a:t>
            </a:r>
            <a:endParaRPr lang="en-US"/>
          </a:p>
          <a:p>
            <a:pPr>
              <a:buFont typeface="Arial"/>
              <a:buChar char="•"/>
            </a:pPr>
            <a:r>
              <a:rPr lang="en-US" sz="2800">
                <a:ea typeface="+mn-lt"/>
                <a:cs typeface="+mn-lt"/>
              </a:rPr>
              <a:t>It is faster, more accurate, and more efficient than manual systems.</a:t>
            </a:r>
            <a:endParaRPr lang="en-US"/>
          </a:p>
          <a:p>
            <a:pPr marL="457200" indent="-457200">
              <a:buFontTx/>
              <a:buChar char="-"/>
            </a:pPr>
            <a:endParaRPr lang="en-US" sz="280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>
            <a:extLst>
              <a:ext uri="{FF2B5EF4-FFF2-40B4-BE49-F238E27FC236}">
                <a16:creationId xmlns:a16="http://schemas.microsoft.com/office/drawing/2014/main" id="{25F9D4B0-38FE-DBA4-164D-1745B68379A5}"/>
              </a:ext>
            </a:extLst>
          </p:cNvPr>
          <p:cNvSpPr txBox="1"/>
          <p:nvPr/>
        </p:nvSpPr>
        <p:spPr>
          <a:xfrm flipV="1">
            <a:off x="-3341853" y="-434669"/>
            <a:ext cx="6366792" cy="259656"/>
          </a:xfrm>
          <a:prstGeom prst="rect">
            <a:avLst/>
          </a:prstGeom>
          <a:noFill/>
          <a:ln>
            <a:solidFill>
              <a:srgbClr val="4472C4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endParaRPr lang="en-US" sz="2800" b="1" dirty="0">
              <a:ea typeface="Calibri"/>
              <a:cs typeface="Calibri"/>
            </a:endParaRPr>
          </a:p>
        </p:txBody>
      </p:sp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1" name="Freeform 10">
            <a:extLst>
              <a:ext uri="{FF2B5EF4-FFF2-40B4-BE49-F238E27FC236}">
                <a16:creationId xmlns:a16="http://schemas.microsoft.com/office/drawing/2014/main" id="{01BC0C31-7FCD-94EE-8B85-19FBC227565C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4B3B85F-0C7B-16B9-6D50-94A4DFD2D192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A diagram of a system&#10;&#10;AI-generated content may be incorrect.">
            <a:extLst>
              <a:ext uri="{FF2B5EF4-FFF2-40B4-BE49-F238E27FC236}">
                <a16:creationId xmlns:a16="http://schemas.microsoft.com/office/drawing/2014/main" id="{660A6E56-DEE4-6226-E6F3-625FD580B1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3217" y="1732050"/>
            <a:ext cx="8258045" cy="727696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5D73635-BA0B-D4DF-0000-F2AC1DBCD794}"/>
              </a:ext>
            </a:extLst>
          </p:cNvPr>
          <p:cNvSpPr txBox="1"/>
          <p:nvPr/>
        </p:nvSpPr>
        <p:spPr>
          <a:xfrm>
            <a:off x="1753645" y="1730156"/>
            <a:ext cx="8282836" cy="120340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/>
            <a:r>
              <a:rPr lang="en-US" sz="2800" b="1" baseline="0">
                <a:latin typeface="Calibri"/>
                <a:ea typeface="Arial"/>
                <a:cs typeface="Arial"/>
              </a:rPr>
              <a:t>Input:</a:t>
            </a:r>
            <a:r>
              <a:rPr lang="en-US" sz="2800">
                <a:latin typeface="Calibri"/>
                <a:ea typeface="Arial"/>
                <a:cs typeface="Arial"/>
              </a:rPr>
              <a:t>​</a:t>
            </a:r>
            <a:br>
              <a:rPr lang="en-US" sz="2800">
                <a:latin typeface="Calibri"/>
                <a:ea typeface="Arial"/>
                <a:cs typeface="Arial"/>
              </a:rPr>
            </a:br>
            <a:r>
              <a:rPr lang="en-US" sz="2800" baseline="0">
                <a:latin typeface="Calibri"/>
                <a:ea typeface="Arial"/>
                <a:cs typeface="Arial"/>
              </a:rPr>
              <a:t>User enters product details like product name, ID, price, and quantity.</a:t>
            </a:r>
            <a:r>
              <a:rPr lang="en-US" sz="2800">
                <a:latin typeface="Calibri"/>
                <a:ea typeface="Arial"/>
                <a:cs typeface="Arial"/>
              </a:rPr>
              <a:t>​</a:t>
            </a:r>
            <a:br>
              <a:rPr lang="en-US" sz="2800">
                <a:latin typeface="Calibri"/>
                <a:ea typeface="Arial"/>
                <a:cs typeface="Arial"/>
              </a:rPr>
            </a:br>
            <a:r>
              <a:rPr lang="en-US" sz="2800" baseline="0">
                <a:latin typeface="Calibri"/>
                <a:ea typeface="Arial"/>
                <a:cs typeface="Arial"/>
              </a:rPr>
              <a:t>User can also update or delete product information</a:t>
            </a:r>
            <a:r>
              <a:rPr lang="en-US" sz="2800" b="1" baseline="0">
                <a:latin typeface="Calibri"/>
                <a:ea typeface="Arial"/>
                <a:cs typeface="Arial"/>
              </a:rPr>
              <a:t>.</a:t>
            </a:r>
            <a:r>
              <a:rPr lang="en-US" sz="2800">
                <a:latin typeface="Calibri"/>
                <a:ea typeface="Arial"/>
                <a:cs typeface="Arial"/>
              </a:rPr>
              <a:t>​</a:t>
            </a:r>
          </a:p>
          <a:p>
            <a:pPr rtl="0"/>
            <a:r>
              <a:rPr lang="en-US" sz="2800" b="1" baseline="0">
                <a:latin typeface="Calibri"/>
                <a:ea typeface="Arial"/>
                <a:cs typeface="Arial"/>
              </a:rPr>
              <a:t>Processing:</a:t>
            </a:r>
            <a:r>
              <a:rPr lang="en-US" sz="2800">
                <a:latin typeface="Calibri"/>
                <a:ea typeface="Arial"/>
                <a:cs typeface="Arial"/>
              </a:rPr>
              <a:t>​</a:t>
            </a:r>
            <a:br>
              <a:rPr lang="en-US" sz="2800">
                <a:latin typeface="Calibri"/>
                <a:ea typeface="Arial"/>
                <a:cs typeface="Arial"/>
              </a:rPr>
            </a:br>
            <a:r>
              <a:rPr lang="en-US" sz="2800" baseline="0">
                <a:latin typeface="Calibri"/>
                <a:ea typeface="Arial"/>
                <a:cs typeface="Arial"/>
              </a:rPr>
              <a:t>The system processes the user input and performs required operations.</a:t>
            </a:r>
            <a:r>
              <a:rPr lang="en-US" sz="2800">
                <a:latin typeface="Calibri"/>
                <a:ea typeface="Arial"/>
                <a:cs typeface="Arial"/>
              </a:rPr>
              <a:t>​</a:t>
            </a:r>
            <a:br>
              <a:rPr lang="en-US" sz="2800">
                <a:latin typeface="Calibri"/>
                <a:ea typeface="Arial"/>
                <a:cs typeface="Arial"/>
              </a:rPr>
            </a:br>
            <a:r>
              <a:rPr lang="en-US" sz="2800" baseline="0">
                <a:latin typeface="Calibri"/>
                <a:ea typeface="Arial"/>
                <a:cs typeface="Arial"/>
              </a:rPr>
              <a:t>It updates stock levels and checks for low or out-of-stock items.</a:t>
            </a:r>
            <a:r>
              <a:rPr lang="en-US" sz="2800">
                <a:latin typeface="Calibri"/>
                <a:ea typeface="Arial"/>
                <a:cs typeface="Arial"/>
              </a:rPr>
              <a:t>​</a:t>
            </a:r>
          </a:p>
          <a:p>
            <a:pPr rtl="0"/>
            <a:r>
              <a:rPr lang="en-US" sz="2800" b="1" baseline="0">
                <a:latin typeface="Calibri"/>
                <a:ea typeface="Arial"/>
                <a:cs typeface="Arial"/>
              </a:rPr>
              <a:t>Database:</a:t>
            </a:r>
            <a:r>
              <a:rPr lang="en-US" sz="2800">
                <a:latin typeface="Calibri"/>
                <a:ea typeface="Arial"/>
                <a:cs typeface="Arial"/>
              </a:rPr>
              <a:t>​</a:t>
            </a:r>
            <a:br>
              <a:rPr lang="en-US" sz="2800">
                <a:latin typeface="Calibri"/>
                <a:ea typeface="Arial"/>
                <a:cs typeface="Arial"/>
              </a:rPr>
            </a:br>
            <a:r>
              <a:rPr lang="en-US" sz="2800" baseline="0">
                <a:latin typeface="Calibri"/>
                <a:ea typeface="Arial"/>
                <a:cs typeface="Arial"/>
              </a:rPr>
              <a:t>All product and stock data is stored in a MySQL database.</a:t>
            </a:r>
            <a:r>
              <a:rPr lang="en-US" sz="2800">
                <a:latin typeface="Calibri"/>
                <a:ea typeface="Arial"/>
                <a:cs typeface="Arial"/>
              </a:rPr>
              <a:t>​</a:t>
            </a:r>
            <a:br>
              <a:rPr lang="en-US" sz="2800">
                <a:latin typeface="Calibri"/>
                <a:ea typeface="Arial"/>
                <a:cs typeface="Arial"/>
              </a:rPr>
            </a:br>
            <a:r>
              <a:rPr lang="en-US" sz="2800" baseline="0">
                <a:latin typeface="Calibri"/>
                <a:ea typeface="Arial"/>
                <a:cs typeface="Arial"/>
              </a:rPr>
              <a:t>The database helps in easy storage, retrieval, and management of data.</a:t>
            </a:r>
            <a:r>
              <a:rPr lang="en-US" sz="2800">
                <a:latin typeface="Calibri"/>
                <a:ea typeface="Arial"/>
                <a:cs typeface="Arial"/>
              </a:rPr>
              <a:t>​</a:t>
            </a:r>
          </a:p>
          <a:p>
            <a:pPr rtl="0"/>
            <a:r>
              <a:rPr lang="en-US" sz="2800" b="1" baseline="0">
                <a:latin typeface="Calibri"/>
                <a:ea typeface="Arial"/>
                <a:cs typeface="Arial"/>
              </a:rPr>
              <a:t>Output:</a:t>
            </a:r>
            <a:r>
              <a:rPr lang="en-US" sz="2800">
                <a:latin typeface="Calibri"/>
                <a:ea typeface="Arial"/>
                <a:cs typeface="Arial"/>
              </a:rPr>
              <a:t>​</a:t>
            </a:r>
            <a:br>
              <a:rPr lang="en-US" sz="2800">
                <a:latin typeface="Calibri"/>
                <a:ea typeface="Arial"/>
                <a:cs typeface="Arial"/>
              </a:rPr>
            </a:br>
            <a:r>
              <a:rPr lang="en-US" sz="2800" baseline="0">
                <a:latin typeface="Calibri"/>
                <a:ea typeface="Arial"/>
                <a:cs typeface="Arial"/>
              </a:rPr>
              <a:t>The system displays updated product details and stock information.</a:t>
            </a:r>
            <a:r>
              <a:rPr lang="en-US" sz="2800">
                <a:latin typeface="Calibri"/>
                <a:ea typeface="Arial"/>
                <a:cs typeface="Arial"/>
              </a:rPr>
              <a:t>​</a:t>
            </a:r>
            <a:br>
              <a:rPr lang="en-US" sz="2800">
                <a:latin typeface="Calibri"/>
                <a:ea typeface="Arial"/>
                <a:cs typeface="Arial"/>
              </a:rPr>
            </a:br>
            <a:r>
              <a:rPr lang="en-US" sz="2800" baseline="0">
                <a:latin typeface="Calibri"/>
                <a:ea typeface="Arial"/>
                <a:cs typeface="Arial"/>
              </a:rPr>
              <a:t>It also generates reports showing available, low, and out-of-stock items.</a:t>
            </a:r>
            <a:r>
              <a:rPr lang="en-US" sz="2800">
                <a:latin typeface="Calibri"/>
                <a:ea typeface="Arial"/>
                <a:cs typeface="Arial"/>
              </a:rPr>
              <a:t>​</a:t>
            </a:r>
          </a:p>
          <a:p>
            <a:pPr rtl="0"/>
            <a:r>
              <a:rPr lang="en-US" sz="2800">
                <a:latin typeface="Calibri"/>
                <a:ea typeface="Arial"/>
                <a:cs typeface="Arial"/>
              </a:rPr>
              <a:t>​</a:t>
            </a:r>
          </a:p>
          <a:p>
            <a:pPr marL="457200" lvl="0" indent="-457200" rtl="0">
              <a:buFont typeface=""/>
              <a:buChar char="-"/>
            </a:pPr>
            <a:endParaRPr lang="en-US">
              <a:latin typeface="Arial"/>
              <a:ea typeface="Arial"/>
              <a:cs typeface="Arial"/>
            </a:endParaRPr>
          </a:p>
          <a:p>
            <a:pPr marL="457200" lvl="0" indent="-457200" rtl="0">
              <a:buFont typeface=""/>
              <a:buChar char="-"/>
            </a:pPr>
            <a:endParaRPr lang="en-US">
              <a:latin typeface="Arial"/>
              <a:ea typeface="Arial"/>
              <a:cs typeface="Arial"/>
            </a:endParaRPr>
          </a:p>
          <a:p>
            <a:pPr marL="457200" lvl="0" indent="-457200" rtl="0">
              <a:buFont typeface=""/>
              <a:buChar char="-"/>
            </a:pPr>
            <a:endParaRPr lang="en-US">
              <a:latin typeface="Arial"/>
              <a:ea typeface="Arial"/>
              <a:cs typeface="Arial"/>
            </a:endParaRPr>
          </a:p>
          <a:p>
            <a:pPr marL="457200" lvl="0" indent="-457200" rtl="0">
              <a:buFont typeface=""/>
              <a:buChar char="-"/>
            </a:pPr>
            <a:endParaRPr lang="en-US">
              <a:latin typeface="Arial"/>
              <a:ea typeface="Arial"/>
              <a:cs typeface="Arial"/>
            </a:endParaRPr>
          </a:p>
          <a:p>
            <a:pPr marL="457200" lvl="0" indent="-457200" rtl="0">
              <a:buFont typeface=""/>
              <a:buChar char="-"/>
            </a:pPr>
            <a:endParaRPr lang="en-US">
              <a:latin typeface="Arial"/>
              <a:ea typeface="Arial"/>
              <a:cs typeface="Arial"/>
            </a:endParaRPr>
          </a:p>
          <a:p>
            <a:pPr marL="457200" lvl="0" indent="-457200" rtl="0">
              <a:buFont typeface=""/>
              <a:buChar char="-"/>
            </a:pPr>
            <a:endParaRPr lang="en-US">
              <a:latin typeface="Arial"/>
              <a:ea typeface="Arial"/>
              <a:cs typeface="Arial"/>
            </a:endParaRPr>
          </a:p>
          <a:p>
            <a:pPr marL="457200" lvl="0" indent="-457200" rtl="0">
              <a:buFont typeface=""/>
              <a:buChar char="-"/>
            </a:pPr>
            <a:endParaRPr lang="en-US">
              <a:latin typeface="Arial"/>
              <a:ea typeface="Arial"/>
              <a:cs typeface="Arial"/>
            </a:endParaRPr>
          </a:p>
          <a:p>
            <a:pPr marL="457200" lvl="0" indent="-457200" rtl="0">
              <a:buFont typeface=""/>
              <a:buChar char="-"/>
            </a:pPr>
            <a:endParaRPr lang="en-US">
              <a:latin typeface="Arial"/>
              <a:ea typeface="Arial"/>
              <a:cs typeface="Arial"/>
            </a:endParaRPr>
          </a:p>
          <a:p>
            <a:pPr marL="457200" lvl="0" indent="-457200" rtl="0">
              <a:buFont typeface=""/>
              <a:buChar char="-"/>
            </a:pPr>
            <a:endParaRPr lang="en-US">
              <a:latin typeface="Arial"/>
              <a:ea typeface="Arial"/>
              <a:cs typeface="Arial"/>
            </a:endParaRPr>
          </a:p>
          <a:p>
            <a:pPr marL="457200" lvl="0" indent="-457200" rtl="0">
              <a:buFont typeface=""/>
              <a:buChar char="-"/>
            </a:pPr>
            <a:endParaRPr lang="en-US">
              <a:latin typeface="Arial"/>
              <a:ea typeface="Arial"/>
              <a:cs typeface="Arial"/>
            </a:endParaRPr>
          </a:p>
          <a:p>
            <a:pPr marL="457200" lvl="0" indent="-457200" rtl="0">
              <a:buFont typeface=""/>
              <a:buChar char="-"/>
            </a:pPr>
            <a:endParaRPr lang="en-IN">
              <a:latin typeface="Arial"/>
              <a:ea typeface="Arial"/>
              <a:cs typeface="Arial"/>
            </a:endParaRPr>
          </a:p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663A130-069F-2D83-78E7-4DA0FE7AAC6E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B156733-A733-69AA-7523-59650E125994}"/>
              </a:ext>
            </a:extLst>
          </p:cNvPr>
          <p:cNvSpPr txBox="1"/>
          <p:nvPr/>
        </p:nvSpPr>
        <p:spPr>
          <a:xfrm>
            <a:off x="19050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diagram of inventory data flow&#10;&#10;AI-generated content may be incorrect.">
            <a:extLst>
              <a:ext uri="{FF2B5EF4-FFF2-40B4-BE49-F238E27FC236}">
                <a16:creationId xmlns:a16="http://schemas.microsoft.com/office/drawing/2014/main" id="{87821F35-9F0D-D7C7-2E01-4BA43971AB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7667" y="1589761"/>
            <a:ext cx="8781007" cy="644986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D80B4C2-96FF-088C-8CFC-E95C28D4CB2F}"/>
              </a:ext>
            </a:extLst>
          </p:cNvPr>
          <p:cNvSpPr txBox="1"/>
          <p:nvPr/>
        </p:nvSpPr>
        <p:spPr>
          <a:xfrm>
            <a:off x="1722329" y="1166487"/>
            <a:ext cx="7593904" cy="74174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2800" dirty="0">
              <a:ea typeface="Calibri"/>
              <a:cs typeface="Calibri"/>
            </a:endParaRPr>
          </a:p>
          <a:p>
            <a:pPr>
              <a:buFont typeface=""/>
              <a:buAutoNum type="arabicPeriod"/>
            </a:pPr>
            <a:r>
              <a:rPr lang="en-US" sz="2800" b="1"/>
              <a:t>Supplier</a:t>
            </a:r>
            <a:r>
              <a:rPr lang="en-US" sz="2800"/>
              <a:t> sends invoices to the system.</a:t>
            </a:r>
            <a:endParaRPr lang="en-US" sz="2800" dirty="0">
              <a:ea typeface="Calibri"/>
              <a:cs typeface="Calibri"/>
            </a:endParaRPr>
          </a:p>
          <a:p>
            <a:pPr>
              <a:buFont typeface=""/>
              <a:buAutoNum type="arabicPeriod"/>
            </a:pPr>
            <a:r>
              <a:rPr lang="en-US" sz="2800" b="1"/>
              <a:t>Update Inventory</a:t>
            </a:r>
            <a:r>
              <a:rPr lang="en-US" sz="2800"/>
              <a:t> adds the new stock to the Inventory store.</a:t>
            </a:r>
            <a:endParaRPr lang="en-US" sz="2800" dirty="0">
              <a:ea typeface="Calibri"/>
              <a:cs typeface="Calibri"/>
            </a:endParaRPr>
          </a:p>
          <a:p>
            <a:pPr>
              <a:buFont typeface=""/>
              <a:buAutoNum type="arabicPeriod"/>
            </a:pPr>
            <a:r>
              <a:rPr lang="en-US" sz="2800" b="1"/>
              <a:t>Stock on Hand</a:t>
            </a:r>
            <a:r>
              <a:rPr lang="en-US" sz="2800"/>
              <a:t> counts are sent to update the system.</a:t>
            </a:r>
            <a:endParaRPr lang="en-US" sz="2800" dirty="0">
              <a:ea typeface="Calibri"/>
              <a:cs typeface="Calibri"/>
            </a:endParaRPr>
          </a:p>
          <a:p>
            <a:pPr>
              <a:buFont typeface=""/>
              <a:buAutoNum type="arabicPeriod"/>
            </a:pPr>
            <a:r>
              <a:rPr lang="en-US" sz="2800" b="1"/>
              <a:t>Amounts used</a:t>
            </a:r>
            <a:r>
              <a:rPr lang="en-US" sz="2800"/>
              <a:t> are deducted from the Inventory store.</a:t>
            </a:r>
            <a:endParaRPr lang="en-US" sz="2800" dirty="0">
              <a:ea typeface="Calibri"/>
              <a:cs typeface="Calibri"/>
            </a:endParaRPr>
          </a:p>
          <a:p>
            <a:pPr>
              <a:buFont typeface=""/>
              <a:buAutoNum type="arabicPeriod"/>
            </a:pPr>
            <a:r>
              <a:rPr lang="en-US" sz="2800" b="1"/>
              <a:t>Inventory levels</a:t>
            </a:r>
            <a:r>
              <a:rPr lang="en-US" sz="2800"/>
              <a:t> are checked to see if stock is low.</a:t>
            </a:r>
            <a:endParaRPr lang="en-US" sz="2800" dirty="0">
              <a:ea typeface="Calibri"/>
              <a:cs typeface="Calibri"/>
            </a:endParaRPr>
          </a:p>
          <a:p>
            <a:pPr>
              <a:buFont typeface=""/>
              <a:buAutoNum type="arabicPeriod"/>
            </a:pPr>
            <a:r>
              <a:rPr lang="en-US" sz="2800" b="1"/>
              <a:t>Generate Orders</a:t>
            </a:r>
            <a:r>
              <a:rPr lang="en-US" sz="2800"/>
              <a:t> automatically places an order with the Supplier if stock is low.</a:t>
            </a:r>
            <a:endParaRPr lang="en-US" sz="2800" dirty="0">
              <a:ea typeface="Calibri"/>
              <a:cs typeface="Calibri"/>
            </a:endParaRPr>
          </a:p>
          <a:p>
            <a:pPr>
              <a:buFont typeface=""/>
              <a:buAutoNum type="arabicPeriod"/>
            </a:pPr>
            <a:r>
              <a:rPr lang="en-US" sz="2800" b="1"/>
              <a:t>Generate Payments</a:t>
            </a:r>
            <a:r>
              <a:rPr lang="en-US" sz="2800"/>
              <a:t> sends payment back to the Supplier.</a:t>
            </a:r>
            <a:endParaRPr lang="en-US" sz="2800" dirty="0">
              <a:ea typeface="Calibri"/>
              <a:cs typeface="Calibri"/>
            </a:endParaRPr>
          </a:p>
          <a:p>
            <a:pPr>
              <a:buFont typeface=""/>
              <a:buAutoNum type="arabicPeriod"/>
            </a:pPr>
            <a:r>
              <a:rPr lang="en-US" sz="2800" b="1"/>
              <a:t>Manager</a:t>
            </a:r>
            <a:r>
              <a:rPr lang="en-US" sz="2800"/>
              <a:t> can query inventory and get results anytime.</a:t>
            </a:r>
            <a:endParaRPr lang="en-US" sz="2800" dirty="0">
              <a:ea typeface="Calibri"/>
              <a:cs typeface="Calibri"/>
            </a:endParaRPr>
          </a:p>
          <a:p>
            <a:pPr algn="ctr"/>
            <a:endParaRPr lang="en-US" sz="2800"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07389F6-23D0-83F6-DD02-F20D61DADE76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4ED097B-FECF-66E6-2A98-0F8B4D948FC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6E9F5F9-CCF8-6F05-4C01-034C88D7529E}"/>
              </a:ext>
            </a:extLst>
          </p:cNvPr>
          <p:cNvSpPr txBox="1"/>
          <p:nvPr/>
        </p:nvSpPr>
        <p:spPr>
          <a:xfrm>
            <a:off x="2209800" y="1638300"/>
            <a:ext cx="15082325" cy="84023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endParaRPr lang="en-US" sz="2800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sz="2800" b="1">
                <a:ea typeface="+mn-lt"/>
                <a:cs typeface="+mn-lt"/>
              </a:rPr>
              <a:t>Frontend:</a:t>
            </a:r>
            <a:endParaRPr lang="en-US" b="1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2800" dirty="0">
                <a:ea typeface="+mn-lt"/>
                <a:cs typeface="+mn-lt"/>
              </a:rPr>
              <a:t>HTML and </a:t>
            </a:r>
            <a:r>
              <a:rPr lang="en-US" sz="2800">
                <a:ea typeface="+mn-lt"/>
                <a:cs typeface="+mn-lt"/>
              </a:rPr>
              <a:t>CSS</a:t>
            </a:r>
            <a:r>
              <a:rPr lang="en-US" sz="2800" dirty="0">
                <a:ea typeface="+mn-lt"/>
                <a:cs typeface="+mn-lt"/>
              </a:rPr>
              <a:t> are used to design the user interface.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sz="2800">
                <a:ea typeface="+mn-lt"/>
                <a:cs typeface="+mn-lt"/>
              </a:rPr>
              <a:t>They help create simple, clean, and user-friendly screens for the system.</a:t>
            </a:r>
            <a:endParaRPr lang="en-US"/>
          </a:p>
          <a:p>
            <a:pPr>
              <a:buFont typeface="Arial"/>
              <a:buChar char="•"/>
            </a:pPr>
            <a:r>
              <a:rPr lang="en-US" sz="2800" b="1">
                <a:ea typeface="+mn-lt"/>
                <a:cs typeface="+mn-lt"/>
              </a:rPr>
              <a:t>Backend:</a:t>
            </a:r>
            <a:endParaRPr lang="en-US" b="1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2800">
                <a:ea typeface="+mn-lt"/>
                <a:cs typeface="+mn-lt"/>
              </a:rPr>
              <a:t>Java is used to handle the main logic of the application.</a:t>
            </a:r>
            <a:endParaRPr lang="en-US"/>
          </a:p>
          <a:p>
            <a:pPr>
              <a:buFont typeface="Arial"/>
              <a:buChar char="•"/>
            </a:pPr>
            <a:r>
              <a:rPr lang="en-US" sz="2800">
                <a:ea typeface="+mn-lt"/>
                <a:cs typeface="+mn-lt"/>
              </a:rPr>
              <a:t>It processes user inputs, performs operations, and connects with the database.</a:t>
            </a:r>
            <a:endParaRPr lang="en-US"/>
          </a:p>
          <a:p>
            <a:pPr>
              <a:buFont typeface="Arial"/>
              <a:buChar char="•"/>
            </a:pPr>
            <a:r>
              <a:rPr lang="en-US" sz="2800" b="1">
                <a:ea typeface="+mn-lt"/>
                <a:cs typeface="+mn-lt"/>
              </a:rPr>
              <a:t>Database:</a:t>
            </a:r>
            <a:endParaRPr lang="en-US" b="1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2800">
                <a:ea typeface="+mn-lt"/>
                <a:cs typeface="+mn-lt"/>
              </a:rPr>
              <a:t>MySQL is used to store all product and stock details.</a:t>
            </a:r>
            <a:endParaRPr lang="en-US"/>
          </a:p>
          <a:p>
            <a:pPr>
              <a:buFont typeface="Arial"/>
              <a:buChar char="•"/>
            </a:pPr>
            <a:r>
              <a:rPr lang="en-US" sz="2800">
                <a:ea typeface="+mn-lt"/>
                <a:cs typeface="+mn-lt"/>
              </a:rPr>
              <a:t>It helps in organizing data in tables and retrieving it quickly when needed.</a:t>
            </a:r>
            <a:endParaRPr lang="en-US"/>
          </a:p>
          <a:p>
            <a:pPr>
              <a:buFont typeface="Arial"/>
              <a:buChar char="•"/>
            </a:pPr>
            <a:r>
              <a:rPr lang="en-US" sz="2800" b="1">
                <a:ea typeface="+mn-lt"/>
                <a:cs typeface="+mn-lt"/>
              </a:rPr>
              <a:t>Tools:</a:t>
            </a:r>
            <a:endParaRPr lang="en-US" b="1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2800">
                <a:ea typeface="+mn-lt"/>
                <a:cs typeface="+mn-lt"/>
              </a:rPr>
              <a:t>Eclipse is used for coding and development.</a:t>
            </a:r>
            <a:endParaRPr lang="en-US"/>
          </a:p>
          <a:p>
            <a:pPr>
              <a:buFont typeface="Arial"/>
              <a:buChar char="•"/>
            </a:pPr>
            <a:r>
              <a:rPr lang="en-US" sz="2800">
                <a:ea typeface="+mn-lt"/>
                <a:cs typeface="+mn-lt"/>
              </a:rPr>
              <a:t>MySQL Workbench is used to manage the database easily.</a:t>
            </a:r>
            <a:endParaRPr lang="en-US"/>
          </a:p>
          <a:p>
            <a:pPr>
              <a:buFont typeface="Arial"/>
              <a:buChar char="•"/>
            </a:pPr>
            <a:r>
              <a:rPr lang="en-US" sz="2800" b="1">
                <a:ea typeface="+mn-lt"/>
                <a:cs typeface="+mn-lt"/>
              </a:rPr>
              <a:t>Hardware/Software Requirements:</a:t>
            </a:r>
            <a:endParaRPr lang="en-US" b="1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2800" dirty="0">
                <a:ea typeface="+mn-lt"/>
                <a:cs typeface="+mn-lt"/>
              </a:rPr>
              <a:t>A computer or laptop with minimum 4GB RAM is required.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sz="2800">
                <a:ea typeface="+mn-lt"/>
                <a:cs typeface="+mn-lt"/>
              </a:rPr>
              <a:t>Operating system like Windows or Linux is needed.</a:t>
            </a:r>
            <a:endParaRPr lang="en-US"/>
          </a:p>
          <a:p>
            <a:pPr>
              <a:buFont typeface="Arial"/>
              <a:buChar char="•"/>
            </a:pPr>
            <a:r>
              <a:rPr lang="en-US" sz="2800">
                <a:ea typeface="+mn-lt"/>
                <a:cs typeface="+mn-lt"/>
              </a:rPr>
              <a:t>Java JDK must be installed to run the program.</a:t>
            </a:r>
            <a:endParaRPr lang="en-US"/>
          </a:p>
          <a:p>
            <a:pPr>
              <a:buFont typeface="Arial"/>
              <a:buChar char="•"/>
            </a:pPr>
            <a:r>
              <a:rPr lang="en-US" sz="2800">
                <a:ea typeface="+mn-lt"/>
                <a:cs typeface="+mn-lt"/>
              </a:rPr>
              <a:t>A web browser like Chrome is used to access the system.</a:t>
            </a:r>
            <a:endParaRPr lang="en-US"/>
          </a:p>
          <a:p>
            <a:pPr>
              <a:buFont typeface="Arial"/>
              <a:buChar char="•"/>
            </a:pPr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A1BCE7C-890E-A01E-691E-1D3D07CF6333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304C197-EAC7-7A26-FAED-ED7302DBEC6E}"/>
              </a:ext>
            </a:extLst>
          </p:cNvPr>
          <p:cNvSpPr txBox="1"/>
          <p:nvPr/>
        </p:nvSpPr>
        <p:spPr>
          <a:xfrm>
            <a:off x="2209800" y="1638300"/>
            <a:ext cx="15082325" cy="898707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sz="2800" b="1">
                <a:ea typeface="+mn-lt"/>
                <a:cs typeface="+mn-lt"/>
              </a:rPr>
              <a:t>Module 1: User Management</a:t>
            </a:r>
            <a:endParaRPr lang="en-IN">
              <a:ea typeface="+mn-lt"/>
              <a:cs typeface="+mn-lt"/>
            </a:endParaRPr>
          </a:p>
          <a:p>
            <a:r>
              <a:rPr lang="en-IN" sz="2800">
                <a:ea typeface="+mn-lt"/>
                <a:cs typeface="+mn-lt"/>
              </a:rPr>
              <a:t>Handles user login and authentication.</a:t>
            </a:r>
            <a:endParaRPr lang="en-IN">
              <a:ea typeface="+mn-lt"/>
              <a:cs typeface="+mn-lt"/>
            </a:endParaRPr>
          </a:p>
          <a:p>
            <a:r>
              <a:rPr lang="en-IN" sz="2800">
                <a:ea typeface="+mn-lt"/>
                <a:cs typeface="+mn-lt"/>
              </a:rPr>
              <a:t>Ensures secure access to the system.</a:t>
            </a:r>
            <a:endParaRPr lang="en-IN">
              <a:ea typeface="Calibri"/>
              <a:cs typeface="Calibri"/>
            </a:endParaRPr>
          </a:p>
          <a:p>
            <a:r>
              <a:rPr lang="en-IN" sz="2800">
                <a:ea typeface="+mn-lt"/>
                <a:cs typeface="+mn-lt"/>
              </a:rPr>
              <a:t>Different users can access based on roles (if added).</a:t>
            </a:r>
            <a:endParaRPr lang="en-IN">
              <a:ea typeface="Calibri"/>
              <a:cs typeface="Calibri"/>
            </a:endParaRPr>
          </a:p>
          <a:p>
            <a:r>
              <a:rPr lang="en-IN" sz="2800" b="1">
                <a:ea typeface="+mn-lt"/>
                <a:cs typeface="+mn-lt"/>
              </a:rPr>
              <a:t>Module 2: Product Management</a:t>
            </a:r>
            <a:endParaRPr lang="en-IN">
              <a:ea typeface="Calibri"/>
              <a:cs typeface="Calibri"/>
            </a:endParaRPr>
          </a:p>
          <a:p>
            <a:r>
              <a:rPr lang="en-IN" sz="2800">
                <a:ea typeface="+mn-lt"/>
                <a:cs typeface="+mn-lt"/>
              </a:rPr>
              <a:t>Allows adding, updating, and deleting product details.</a:t>
            </a:r>
            <a:endParaRPr lang="en-IN">
              <a:ea typeface="Calibri"/>
              <a:cs typeface="Calibri"/>
            </a:endParaRPr>
          </a:p>
          <a:p>
            <a:r>
              <a:rPr lang="en-IN" sz="2800">
                <a:ea typeface="+mn-lt"/>
                <a:cs typeface="+mn-lt"/>
              </a:rPr>
              <a:t>Stores product name, ID, price, and category.</a:t>
            </a:r>
            <a:endParaRPr lang="en-IN">
              <a:ea typeface="Calibri"/>
              <a:cs typeface="Calibri"/>
            </a:endParaRPr>
          </a:p>
          <a:p>
            <a:r>
              <a:rPr lang="en-IN" sz="2800">
                <a:ea typeface="+mn-lt"/>
                <a:cs typeface="+mn-lt"/>
              </a:rPr>
              <a:t>Helps in organizing all items properly.</a:t>
            </a:r>
            <a:endParaRPr lang="en-IN">
              <a:ea typeface="+mn-lt"/>
              <a:cs typeface="+mn-lt"/>
            </a:endParaRPr>
          </a:p>
          <a:p>
            <a:r>
              <a:rPr lang="en-IN" sz="2800" b="1">
                <a:ea typeface="+mn-lt"/>
                <a:cs typeface="+mn-lt"/>
              </a:rPr>
              <a:t>Module 3: Stock Management</a:t>
            </a:r>
            <a:endParaRPr lang="en-IN">
              <a:ea typeface="+mn-lt"/>
              <a:cs typeface="+mn-lt"/>
            </a:endParaRPr>
          </a:p>
          <a:p>
            <a:r>
              <a:rPr lang="en-IN" sz="2800">
                <a:ea typeface="+mn-lt"/>
                <a:cs typeface="+mn-lt"/>
              </a:rPr>
              <a:t>Keeps track of available stock quantity.</a:t>
            </a:r>
            <a:endParaRPr lang="en-IN">
              <a:ea typeface="Calibri"/>
              <a:cs typeface="Calibri"/>
            </a:endParaRPr>
          </a:p>
          <a:p>
            <a:r>
              <a:rPr lang="en-IN" sz="2800">
                <a:ea typeface="+mn-lt"/>
                <a:cs typeface="+mn-lt"/>
              </a:rPr>
              <a:t>Updates stock automatically when items are added or sold.</a:t>
            </a:r>
            <a:endParaRPr lang="en-IN">
              <a:ea typeface="Calibri"/>
              <a:cs typeface="Calibri"/>
            </a:endParaRPr>
          </a:p>
          <a:p>
            <a:r>
              <a:rPr lang="en-IN" sz="2800">
                <a:ea typeface="+mn-lt"/>
                <a:cs typeface="+mn-lt"/>
              </a:rPr>
              <a:t>Prevents out-of-stock situations by monitoring levels.</a:t>
            </a:r>
            <a:endParaRPr lang="en-IN">
              <a:ea typeface="+mn-lt"/>
              <a:cs typeface="+mn-lt"/>
            </a:endParaRPr>
          </a:p>
          <a:p>
            <a:r>
              <a:rPr lang="en-IN" sz="2800" b="1">
                <a:ea typeface="+mn-lt"/>
                <a:cs typeface="+mn-lt"/>
              </a:rPr>
              <a:t>Module 4: Report Generation</a:t>
            </a:r>
            <a:endParaRPr lang="en-IN">
              <a:ea typeface="Calibri"/>
              <a:cs typeface="Calibri"/>
            </a:endParaRPr>
          </a:p>
          <a:p>
            <a:r>
              <a:rPr lang="en-IN" sz="2800">
                <a:ea typeface="+mn-lt"/>
                <a:cs typeface="+mn-lt"/>
              </a:rPr>
              <a:t>Generates reports of stock, sales, and product details.</a:t>
            </a:r>
            <a:endParaRPr lang="en-IN">
              <a:ea typeface="Calibri"/>
              <a:cs typeface="Calibri"/>
            </a:endParaRPr>
          </a:p>
          <a:p>
            <a:r>
              <a:rPr lang="en-IN" sz="2800">
                <a:ea typeface="+mn-lt"/>
                <a:cs typeface="+mn-lt"/>
              </a:rPr>
              <a:t>Helps in </a:t>
            </a:r>
            <a:r>
              <a:rPr lang="en-IN" sz="2800" err="1">
                <a:ea typeface="+mn-lt"/>
                <a:cs typeface="+mn-lt"/>
              </a:rPr>
              <a:t>analyzing</a:t>
            </a:r>
            <a:r>
              <a:rPr lang="en-IN" sz="2800">
                <a:ea typeface="+mn-lt"/>
                <a:cs typeface="+mn-lt"/>
              </a:rPr>
              <a:t> inventory performance.</a:t>
            </a:r>
            <a:endParaRPr lang="en-IN">
              <a:ea typeface="Calibri"/>
              <a:cs typeface="Calibri"/>
            </a:endParaRPr>
          </a:p>
          <a:p>
            <a:r>
              <a:rPr lang="en-IN" sz="2800">
                <a:ea typeface="+mn-lt"/>
                <a:cs typeface="+mn-lt"/>
              </a:rPr>
              <a:t>Supports better decision-making for business.</a:t>
            </a:r>
            <a:endParaRPr lang="en-IN">
              <a:ea typeface="+mn-lt"/>
              <a:cs typeface="+mn-lt"/>
            </a:endParaRPr>
          </a:p>
          <a:p>
            <a:endParaRPr lang="en-IN" sz="2800">
              <a:ea typeface="Calibri"/>
              <a:cs typeface="Calibri"/>
            </a:endParaRPr>
          </a:p>
          <a:p>
            <a:endParaRPr lang="en-IN" sz="2800">
              <a:ea typeface="Calibri"/>
              <a:cs typeface="Calibri"/>
            </a:endParaRPr>
          </a:p>
          <a:p>
            <a:endParaRPr lang="en-IN" sz="2800">
              <a:ea typeface="Calibri"/>
              <a:cs typeface="Calibri"/>
            </a:endParaRPr>
          </a:p>
          <a:p>
            <a:endParaRPr lang="en-IN" sz="280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BFBA1B-7EE7-47B6-41F3-C4B61A97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D8CD5C70-566B-9213-9F31-546BB621CCAF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EBAE7EB-82E8-3AF5-3C43-EA7688F7325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294143A-C171-B89D-02DF-136CB32B43C9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811A371D-2A07-AABC-E66C-143D37E0F12C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F7BDC7D-6911-7D85-E73A-2061DE32440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6DEA2241-E6A3-8051-F424-21070A5DF29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4DD3D6A9-1C97-9943-C984-B50356BAE3FF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6BB1489C-F4F8-D62E-3AD9-3CAA028A426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4A64A6E-EA7C-DFF0-C280-5041CD8B135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BE5FF856-5043-C428-B45A-4C00BF9D3418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FC7AF72-B76A-8AD8-7E70-BDE8837D662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F6C277EF-EDEF-0F79-B4B2-AB1B3E58301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A32CD2C6-1D06-729E-1157-B2EAAEA172A4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222D7EA-F7CE-B4F5-4D06-02860C5AC3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17F695A3-7B3D-00FE-26D6-E53B473BCF1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5A8D3527-DD17-232E-3ECB-BDBFC0FF3DE7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1C3EBC87-5F86-657B-5C0D-7DFFB3C4281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5638183B-03CC-91E5-1C67-EAD126FB6DA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8C4C8B82-0B52-9912-DBAF-71546B2F401E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371F41C0-C399-6E94-B393-623F6ED78C3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5375A05-CD15-FECF-CF37-72BD8B495C3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FFA9D0CA-D989-1DF0-9CD9-7BB1BF37D00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6D72D40E-C3C8-1774-56F7-396EA1F5463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2A94558C-EEEF-6159-C648-7ED1F2545B1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A8A0868D-7450-B2DC-5A6A-A607E39122E3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27C0AD0-E7DC-50B1-90B8-A6B2DA72DDA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9B60539C-7696-ACA6-9070-BC481578187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0A2A8C1-A254-99B6-B7B0-C5A8A5BB008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B814A5FC-F17C-8D1A-04C8-1ED6A2AE0E6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2EC11913-1FC3-79C0-FB94-72486D9673F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6CB89B22-25E1-321C-5A74-15CF8EBC7CA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35C6402D-9C63-51C1-99A9-4206C05377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EC6A4DA-6D4B-3E6A-CF92-E543DD7AFBF5}"/>
              </a:ext>
            </a:extLst>
          </p:cNvPr>
          <p:cNvSpPr txBox="1"/>
          <p:nvPr/>
        </p:nvSpPr>
        <p:spPr>
          <a:xfrm>
            <a:off x="2209800" y="1638300"/>
            <a:ext cx="15082325" cy="1301894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endParaRPr lang="en-US" sz="2800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sz="2800" b="1"/>
              <a:t>Home Page</a:t>
            </a:r>
            <a:endParaRPr lang="en-US" sz="2800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sz="2800">
                <a:ea typeface="+mn-lt"/>
                <a:cs typeface="+mn-lt"/>
              </a:rPr>
              <a:t>The home page shows the main options of the system like products, stock, and reports.</a:t>
            </a:r>
            <a:endParaRPr lang="en-US" sz="2800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sz="2800" dirty="0">
                <a:ea typeface="+mn-lt"/>
                <a:cs typeface="+mn-lt"/>
              </a:rPr>
              <a:t>It provides easy navigation for users to access different features.</a:t>
            </a:r>
            <a:endParaRPr lang="en-US" sz="2800" dirty="0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sz="2800" b="1"/>
              <a:t>Login Page</a:t>
            </a:r>
            <a:endParaRPr lang="en-US" sz="2800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sz="2800">
                <a:ea typeface="+mn-lt"/>
                <a:cs typeface="+mn-lt"/>
              </a:rPr>
              <a:t>The login page allows users to enter username and password.</a:t>
            </a:r>
            <a:endParaRPr lang="en-US" sz="2800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sz="2800">
                <a:ea typeface="+mn-lt"/>
                <a:cs typeface="+mn-lt"/>
              </a:rPr>
              <a:t>It ensures only authorized users can access the system.</a:t>
            </a:r>
            <a:endParaRPr lang="en-US" sz="2800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sz="2800" b="1"/>
              <a:t>Main Module</a:t>
            </a:r>
            <a:endParaRPr lang="en-US" sz="2800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sz="2800">
                <a:ea typeface="+mn-lt"/>
                <a:cs typeface="+mn-lt"/>
              </a:rPr>
              <a:t>The main module displays product details and stock information.</a:t>
            </a:r>
            <a:endParaRPr lang="en-US" sz="2800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sz="2800" dirty="0">
                <a:ea typeface="+mn-lt"/>
                <a:cs typeface="+mn-lt"/>
              </a:rPr>
              <a:t>Users can add, update, or delete products from this page.</a:t>
            </a:r>
            <a:endParaRPr lang="en-US" sz="2800" dirty="0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sz="2800" b="1"/>
              <a:t>Output Page</a:t>
            </a:r>
            <a:endParaRPr lang="en-US" sz="2800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sz="2800" dirty="0">
                <a:ea typeface="+mn-lt"/>
                <a:cs typeface="+mn-lt"/>
              </a:rPr>
              <a:t>The output page shows the final results like stock status and reports.</a:t>
            </a:r>
            <a:endParaRPr lang="en-US" sz="2800" dirty="0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sz="2800">
                <a:ea typeface="+mn-lt"/>
                <a:cs typeface="+mn-lt"/>
              </a:rPr>
              <a:t>It helps users view updated inventory details clearly.</a:t>
            </a:r>
            <a:endParaRPr lang="en-US" sz="2800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sz="2800" dirty="0">
                <a:ea typeface="+mn-lt"/>
                <a:cs typeface="+mn-lt"/>
                <a:hlinkClick r:id="rId3"/>
              </a:rPr>
              <a:t>http://localhost:8080</a:t>
            </a:r>
            <a:r>
              <a:rPr lang="en-US" sz="2800" dirty="0">
                <a:ea typeface="+mn-lt"/>
                <a:cs typeface="+mn-lt"/>
              </a:rPr>
              <a:t>.</a:t>
            </a:r>
            <a:endParaRPr lang="en-US" sz="2800" dirty="0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sz="2800" dirty="0">
                <a:ea typeface="+mn-lt"/>
                <a:cs typeface="+mn-lt"/>
                <a:hlinkClick r:id="rId4"/>
              </a:rPr>
              <a:t>http://192.168.29.222:8080</a:t>
            </a:r>
            <a:endParaRPr lang="en-US" sz="2800" dirty="0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endParaRPr lang="en-US" sz="2800" dirty="0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endParaRPr lang="en-US" sz="2800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endParaRPr lang="en-US" sz="2800">
              <a:ea typeface="Calibri"/>
              <a:cs typeface="Calibri"/>
            </a:endParaRPr>
          </a:p>
          <a:p>
            <a:endParaRPr lang="en-US" sz="2800">
              <a:ea typeface="Calibri"/>
              <a:cs typeface="Calibri"/>
            </a:endParaRPr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>
              <a:ea typeface="Calibri"/>
              <a:cs typeface="Calibri"/>
            </a:endParaRPr>
          </a:p>
          <a:p>
            <a:pPr marL="457200" indent="-457200">
              <a:buFontTx/>
              <a:buChar char="-"/>
            </a:pPr>
            <a:endParaRPr lang="en-US" sz="2800">
              <a:ea typeface="Calibri"/>
              <a:cs typeface="Calibri"/>
            </a:endParaRPr>
          </a:p>
          <a:p>
            <a:pPr marL="457200" indent="-457200">
              <a:buFontTx/>
              <a:buChar char="-"/>
            </a:pPr>
            <a:endParaRPr lang="en-US" sz="2800">
              <a:ea typeface="Calibri"/>
              <a:cs typeface="Calibri"/>
            </a:endParaRPr>
          </a:p>
          <a:p>
            <a:pPr marL="457200" indent="-457200">
              <a:buFontTx/>
              <a:buChar char="-"/>
            </a:pPr>
            <a:endParaRPr lang="en-IN" sz="28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98101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CF319D-58F2-DF9E-632A-90472F50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ADE101F0-A2BF-16E8-7BEC-541911EA9510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43B1E5B-104E-DCD5-F042-8DABFE8225A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46A8601-B4CB-7C78-2833-947EEC356CD7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1C63788E-DB35-987D-1A89-4C3F169DF70E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76646B6-C6D6-F677-3CA9-56BE5CE444A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CDDAA79-D530-F622-0CC8-ECE3E95F952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8227745F-FD1B-7135-E88E-D6B924C5CB24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79292FA3-A80E-1540-0024-754AADCDB01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A8C7117-591A-F089-5F54-0229077FDEA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29278237-7990-A997-2285-EB2F5BB4EF4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F37C1434-DB0E-53EF-4140-56A0F3CD6EA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4FC388C1-59EC-CA17-BA41-9AF3AAD42D8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90F65A21-E49B-9858-6EAD-EBC3142E623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EFDE14F0-9F59-E35F-B5B7-45C77C56354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E1181869-B448-2B7A-67F5-160B09C76D9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B27AB66-420C-E7D0-5891-910B564CA2C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0605CE2-624E-D2DA-6357-65C5FA138C6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DA9B1286-A8A4-091B-5AF9-F0B275F703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127DF020-AEA7-8D57-9411-90D58D65D05B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00BA2729-D580-CF8D-87CD-EE786F2E40E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F0B6F8BA-7047-AE2A-DB03-E6846F9FAEA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B5DE7324-71F9-1D79-AB1E-F9748165338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E780ED4E-44DF-E344-CCEA-834D1374F6A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AC7D9CD8-E54E-AD67-D59B-5D4A37A1B41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3560347-DE50-10F7-9905-7228E593D28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B9E463A-B010-8D72-6350-7242CB0AAF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C15BE220-858E-1446-5B56-D3329A06A9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8F156A3-70B1-1344-389E-4B3C64CA921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A36A5C58-00A3-2FE9-36E4-D92AAF44A0F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BADF0EED-F663-F70E-9BB3-C0F576114D0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54542349-F329-7DA6-DBD4-7EFA939B989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B6CAD810-8433-9B89-E144-29986E25063F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4D7E4DC-046D-FA48-97B4-05A94E9C7E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7346" y="3145802"/>
            <a:ext cx="12098810" cy="568513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AE1A8DF-2EC2-68CF-FA24-5BAB7C25C757}"/>
              </a:ext>
            </a:extLst>
          </p:cNvPr>
          <p:cNvSpPr txBox="1"/>
          <p:nvPr/>
        </p:nvSpPr>
        <p:spPr>
          <a:xfrm>
            <a:off x="1957616" y="1776673"/>
            <a:ext cx="15598032" cy="13849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>
                <a:ea typeface="+mn-lt"/>
                <a:cs typeface="+mn-lt"/>
              </a:rPr>
              <a:t>This is an inventory dashboard that shows total products, categories, and stock movement.</a:t>
            </a:r>
            <a:endParaRPr lang="en-US" sz="2800">
              <a:ea typeface="Calibri"/>
              <a:cs typeface="Calibri"/>
            </a:endParaRPr>
          </a:p>
          <a:p>
            <a:r>
              <a:rPr lang="en-US" sz="2800">
                <a:ea typeface="+mn-lt"/>
                <a:cs typeface="+mn-lt"/>
              </a:rPr>
              <a:t>It also lists recent transactions and highlights items that are low in stock so you can restock them quickly.</a:t>
            </a:r>
            <a:endParaRPr lang="en-US" sz="2800">
              <a:ea typeface="Calibri"/>
              <a:cs typeface="Calibri"/>
            </a:endParaRPr>
          </a:p>
          <a:p>
            <a:pPr algn="l"/>
            <a:endParaRPr lang="en-US" sz="28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81187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F4F051-5473-4E78-FEB2-59A87A5FB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66BE183E-F015-FFD4-5C84-C25B4DCE490A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AEC1772-D597-ACC7-7EF1-FF0460F37AA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46839344-8B05-5C56-F0B1-64E24F458991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23B54700-9ABF-8EDD-8B21-24A9248C534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B99246F8-F6B5-2F2E-2FB4-FAE1DD41DCC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B7CDDD7B-8A9B-223F-951A-473D0C9404F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B3E1A8FC-D0F1-BD05-9C14-C10EAE95E57E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CEB5FB4E-3BF3-BC6A-6692-FE375141E45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38F8F103-F0A5-8F95-A139-8DBEBEF19C2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8C558648-2D59-16EB-3098-EAF5DE978B1F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B168779D-5467-4E78-AD1E-36B5A75A347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8AFC0BB4-20A4-849D-A1E4-FA90A8DDCC7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700D33AC-D53D-0E96-8752-E5DA06AE57A5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14DABAFB-38B3-CE49-B21D-A496D7EC2A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BE27A610-3BC0-BFBC-2A61-4C157B024EF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6C0E28B4-531C-D2E1-F3C9-B5A98A28B69D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C193347-3923-7F1F-A580-A7462B158EC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C5DDC20D-7BD0-E255-26F1-86A88AF67CF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9DBB21A1-CAFF-686E-D181-980219283F7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5531A9C5-B561-53EA-BF9A-3BE6A607C1B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D8870C21-3327-4D63-FD34-36BC479967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4D7C3EBE-FA20-7E4C-13DD-84F1A98618F6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C1E3AE62-1B2B-FE1E-010C-A26C4F613A6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CDA04BD5-C99C-980C-6593-EDEA378D6C3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77207A6-9552-432B-0793-EB6A88EE3C1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7447A1E-BA0C-26C0-C743-E590A55A653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8D425BCC-6A0F-30CB-18E7-D1E21E871D9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35F87FC1-4854-F9D4-8104-40945AD6A772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C7CF20EF-980A-2D88-E968-DCB5B8BC6CF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A7A686B7-4E4C-A5FA-60CD-A6EFF9DEAD8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3ECD8D52-6368-578C-BEB2-0B1BA37FD45D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638323CF-7DCB-075F-B739-0F88472F060D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50A2759-D244-F547-E78C-D6BDA7FD99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9814" y="3195093"/>
            <a:ext cx="10540057" cy="612251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9888AE1-7C40-4BCA-7A84-10A083E20D32}"/>
              </a:ext>
            </a:extLst>
          </p:cNvPr>
          <p:cNvSpPr txBox="1"/>
          <p:nvPr/>
        </p:nvSpPr>
        <p:spPr>
          <a:xfrm>
            <a:off x="1730823" y="1819424"/>
            <a:ext cx="15926842" cy="123110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dirty="0">
                <a:ea typeface="+mn-lt"/>
                <a:cs typeface="+mn-lt"/>
              </a:rPr>
              <a:t>This page shows a list of product categories with their names, descriptions, and options to edit or delete them.</a:t>
            </a:r>
            <a:endParaRPr lang="en-US" sz="2800" dirty="0"/>
          </a:p>
          <a:p>
            <a:pPr algn="l"/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75448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52AA6E-1A8C-A42D-344E-C811AB58A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EB7F1E1F-336A-607D-2868-6C57FF54EB44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3528BA9-EE0E-A6F8-4A8C-6DFC964B206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6E25C449-B344-E643-12F7-C89DEE4255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4C22D2BC-F5CA-423B-6FD6-94172693045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6670B32-1168-757A-3D40-FDD55687DCF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0D3BB7FD-57C6-C09A-D875-135D505A8E1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067A86AC-A2D1-3F33-5857-9F69983F71BB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D9EADC3C-D136-0700-9300-4D8E867EC53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8EAD5F3-3FC4-819A-6ECD-0BC55C92A2B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671F77B-B3A5-F8B6-AC67-6EF88CA95877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1303025A-EF3E-710E-2DBD-D89F29B8499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76E7D281-CC96-92C2-C2F7-583674F0609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E0D02FED-C5F4-9CC7-F1F5-E75E542840A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384D1E33-434F-2FA0-56CC-F24058D8639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F2FC0DCA-FB2A-610C-A8DB-76CE251A57D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4CA1DB61-05A2-042F-9815-00DBC40D0556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7E4E958-360B-28EF-052B-EDDBDD5F40F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BEDBF5CC-2720-E821-001C-11BCB7273E2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6B96629A-6996-B0D7-13D6-0FA011422666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912F1ED8-E3AD-E90A-10CE-D50A8F7D91A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0E45F23-6E8F-F601-2EB3-537A898E704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A40D6715-3580-0B1B-2305-C7ED6083AE85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11A59530-4B7F-6C6B-290E-578EA30200D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9BDCE736-251A-5B70-853E-A0A9A174F36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8249BDCF-E07B-269B-D039-A4360C0FE2B4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6F6B04FD-3FAC-90A2-4C1A-D809D058C0A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BEE5C092-697C-26F6-D6E0-477F151E7CA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FF80FEAE-01A3-1956-FB30-BED14CA86273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2E8D2AB5-8B00-D9B4-469D-07CAE4ECF9C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F9F17E25-114F-438B-701A-7788D333F33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1C4B6667-B2EE-BA32-402F-04368D88D5C4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B953180-DB27-F046-86E3-E3508247B406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41A1FDE-E3AB-682A-64B7-DA145F23EB91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IN" sz="2800"/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49F2B3B-B807-CCDB-E992-997F6669A3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2586" y="3386155"/>
            <a:ext cx="11683057" cy="652411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7E3FBC2-FB65-A9AD-A3D7-93DB5670011D}"/>
              </a:ext>
            </a:extLst>
          </p:cNvPr>
          <p:cNvSpPr txBox="1"/>
          <p:nvPr/>
        </p:nvSpPr>
        <p:spPr>
          <a:xfrm>
            <a:off x="1713186" y="1979098"/>
            <a:ext cx="15050021" cy="13849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dirty="0">
                <a:ea typeface="+mn-lt"/>
                <a:cs typeface="+mn-lt"/>
              </a:rPr>
              <a:t>This page shows all products with their details like price, stock status, and options to view, edit, or delete them.</a:t>
            </a:r>
            <a:endParaRPr lang="en-US" sz="2800">
              <a:ea typeface="Calibri"/>
              <a:cs typeface="Calibri"/>
            </a:endParaRPr>
          </a:p>
          <a:p>
            <a:pPr algn="l"/>
            <a:endParaRPr lang="en-US" sz="28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48899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EBAB55-7601-3C41-6F10-EE0F67F77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B9E2C662-B058-485B-BFC3-199F93F6D154}"/>
              </a:ext>
            </a:extLst>
          </p:cNvPr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125CA7A-BCD4-5B7F-7069-AE7F5BD10A9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7E08158-57E2-530C-A7FD-5AF72088CF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CB09EB64-B1EE-DA7A-E7DC-97163FE53167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B04A57D-53E9-134E-70C7-51485932A21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AC0A25AD-0459-BAEA-2E7B-0D9279AE1BC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0EBC171-BEE8-2D5E-8755-EE50B2570259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E4000A93-AB8F-B573-E218-7434988FD58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1228826C-BC2E-0DA0-107F-341F9D1A494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7FD594E4-E181-FD3B-1C72-DE2D718C274A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C16DA90C-521A-EFE9-8EE9-CB3967A5095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5A678428-7466-DB88-0126-41232DE4A0D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91D279A8-BDAA-B12E-DD4B-9978E9D5005C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08F1BB3-7F58-DE0C-71F1-9782E09061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5F43F9B-B904-0414-7AA7-1E7959C4C9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311E9EBB-A9CE-A64F-FF44-F82C0D52AC3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DED3A9EA-E50F-553B-EDAA-87F95FD2280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7E9C7CEA-D993-4107-0776-54AC90E2062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7B397A27-1CC9-9661-DA24-10B3E104239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2A8CD899-9C63-11A3-805F-4CA0E12C7CB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1976C224-9A36-532E-5E8B-B738C9FBC3F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E8CFE39F-6666-6E69-8980-5B55F6D56478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F859737D-AFDF-BDFC-6651-3B954F2DD4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B7B59B44-AD68-1549-9F86-A09D82459B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3FACABC2-D51C-1EF5-0D1B-34B410283F2E}"/>
              </a:ext>
            </a:extLst>
          </p:cNvPr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6DD43112-BD1E-86D9-D9C6-3C97559FC56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C34845E4-4A4B-0A81-5A55-14004816579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sp>
        <p:nvSpPr>
          <p:cNvPr id="32" name="Freeform 32">
            <a:extLst>
              <a:ext uri="{FF2B5EF4-FFF2-40B4-BE49-F238E27FC236}">
                <a16:creationId xmlns:a16="http://schemas.microsoft.com/office/drawing/2014/main" id="{05CB8E9D-B497-44FF-DB18-7D166BD2DA61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44" name="Group 44">
            <a:extLst>
              <a:ext uri="{FF2B5EF4-FFF2-40B4-BE49-F238E27FC236}">
                <a16:creationId xmlns:a16="http://schemas.microsoft.com/office/drawing/2014/main" id="{FBD0A79F-CA0B-2560-37ED-E07624B11027}"/>
              </a:ext>
            </a:extLst>
          </p:cNvPr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id="{25583CD3-FA12-1B53-043B-9FE4E18BA02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>
              <a:extLst>
                <a:ext uri="{FF2B5EF4-FFF2-40B4-BE49-F238E27FC236}">
                  <a16:creationId xmlns:a16="http://schemas.microsoft.com/office/drawing/2014/main" id="{FA405478-0BA8-4A85-A81A-B9346174FE6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C926643-39EA-932E-6755-230476B3078D}"/>
              </a:ext>
            </a:extLst>
          </p:cNvPr>
          <p:cNvSpPr txBox="1"/>
          <p:nvPr/>
        </p:nvSpPr>
        <p:spPr>
          <a:xfrm>
            <a:off x="190500" y="29049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4AF2B7-3D98-2BEF-D9F8-F5255252B55E}"/>
              </a:ext>
            </a:extLst>
          </p:cNvPr>
          <p:cNvSpPr txBox="1"/>
          <p:nvPr/>
        </p:nvSpPr>
        <p:spPr>
          <a:xfrm>
            <a:off x="3413342" y="1385691"/>
            <a:ext cx="8361123" cy="65556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2800">
              <a:ea typeface="Calibri"/>
              <a:cs typeface="Calibri"/>
            </a:endParaRPr>
          </a:p>
          <a:p>
            <a:r>
              <a:rPr lang="en-US" sz="2800" b="1">
                <a:ea typeface="Calibri"/>
                <a:cs typeface="Calibri"/>
              </a:rPr>
              <a:t>ADVANTAGES</a:t>
            </a:r>
          </a:p>
          <a:p>
            <a:pPr marL="228600" indent="-228600">
              <a:buFont typeface=""/>
              <a:buAutoNum type="arabicPeriod"/>
            </a:pPr>
            <a:r>
              <a:rPr lang="en-US" sz="2800"/>
              <a:t>Saves time by automating inventory management</a:t>
            </a:r>
            <a:endParaRPr lang="en-US" sz="2800">
              <a:ea typeface="Calibri"/>
              <a:cs typeface="Calibri"/>
            </a:endParaRPr>
          </a:p>
          <a:p>
            <a:pPr marL="228600" indent="-228600">
              <a:buFont typeface=""/>
              <a:buAutoNum type="arabicPeriod"/>
            </a:pPr>
            <a:r>
              <a:rPr lang="en-US" sz="2800"/>
              <a:t>Reduces human errors in data entry</a:t>
            </a:r>
            <a:endParaRPr lang="en-US" sz="2800">
              <a:ea typeface="Calibri"/>
              <a:cs typeface="Calibri"/>
            </a:endParaRPr>
          </a:p>
          <a:p>
            <a:pPr marL="228600" indent="-228600">
              <a:buFont typeface=""/>
              <a:buAutoNum type="arabicPeriod"/>
            </a:pPr>
            <a:r>
              <a:rPr lang="en-US" sz="2800"/>
              <a:t>Provides accurate and real-time stock updates</a:t>
            </a:r>
            <a:endParaRPr lang="en-US" sz="2800">
              <a:ea typeface="Calibri"/>
              <a:cs typeface="Calibri"/>
            </a:endParaRPr>
          </a:p>
          <a:p>
            <a:pPr marL="228600" indent="-228600">
              <a:buFont typeface=""/>
              <a:buAutoNum type="arabicPeriod"/>
            </a:pPr>
            <a:r>
              <a:rPr lang="en-US" sz="2800"/>
              <a:t>Easy to store and retrieve product information</a:t>
            </a:r>
            <a:endParaRPr lang="en-US" sz="2800">
              <a:ea typeface="Calibri"/>
              <a:cs typeface="Calibri"/>
            </a:endParaRPr>
          </a:p>
          <a:p>
            <a:pPr marL="228600" indent="-228600">
              <a:buFont typeface=""/>
              <a:buAutoNum type="arabicPeriod"/>
            </a:pPr>
            <a:r>
              <a:rPr lang="en-US" sz="2800"/>
              <a:t>Improves overall efficiency of the system</a:t>
            </a:r>
            <a:endParaRPr lang="en-US" sz="2800">
              <a:ea typeface="Calibri"/>
              <a:cs typeface="Calibri"/>
            </a:endParaRPr>
          </a:p>
          <a:p>
            <a:pPr marL="228600" indent="-228600">
              <a:buFont typeface=""/>
              <a:buAutoNum type="arabicPeriod"/>
            </a:pPr>
            <a:r>
              <a:rPr lang="en-US" sz="2800"/>
              <a:t>Helps in better decision-making using reports</a:t>
            </a:r>
            <a:endParaRPr lang="en-US" sz="2800">
              <a:ea typeface="Calibri"/>
              <a:cs typeface="Calibri"/>
            </a:endParaRPr>
          </a:p>
          <a:p>
            <a:r>
              <a:rPr lang="en-US" sz="2800" b="1"/>
              <a:t>LIMITATIONS</a:t>
            </a:r>
            <a:endParaRPr lang="en-US" sz="2800" b="1">
              <a:ea typeface="Calibri"/>
              <a:cs typeface="Calibri"/>
            </a:endParaRPr>
          </a:p>
          <a:p>
            <a:pPr marL="228600" indent="-228600">
              <a:buFont typeface=""/>
              <a:buAutoNum type="arabicPeriod"/>
            </a:pPr>
            <a:r>
              <a:rPr lang="en-US" sz="2800"/>
              <a:t>Requires a computer system to operate</a:t>
            </a:r>
            <a:endParaRPr lang="en-US" sz="2800">
              <a:ea typeface="Calibri"/>
              <a:cs typeface="Calibri"/>
            </a:endParaRPr>
          </a:p>
          <a:p>
            <a:pPr marL="228600" indent="-228600">
              <a:buFont typeface=""/>
              <a:buAutoNum type="arabicPeriod"/>
            </a:pPr>
            <a:r>
              <a:rPr lang="en-US" sz="2800"/>
              <a:t>Needs basic technical knowledge to use</a:t>
            </a:r>
            <a:endParaRPr lang="en-US" sz="2800">
              <a:ea typeface="Calibri"/>
              <a:cs typeface="Calibri"/>
            </a:endParaRPr>
          </a:p>
          <a:p>
            <a:pPr marL="228600" indent="-228600">
              <a:buFont typeface=""/>
              <a:buAutoNum type="arabicPeriod"/>
            </a:pPr>
            <a:r>
              <a:rPr lang="en-US" sz="2800"/>
              <a:t>Initial setup may take some time</a:t>
            </a:r>
            <a:endParaRPr lang="en-US" sz="2800">
              <a:ea typeface="Calibri"/>
              <a:cs typeface="Calibri"/>
            </a:endParaRPr>
          </a:p>
          <a:p>
            <a:pPr marL="228600" indent="-228600">
              <a:buFont typeface=""/>
              <a:buAutoNum type="arabicPeriod"/>
            </a:pPr>
            <a:r>
              <a:rPr lang="en-US" sz="2800"/>
              <a:t>Limited features in basic version</a:t>
            </a:r>
            <a:endParaRPr lang="en-US" sz="2800">
              <a:ea typeface="Calibri"/>
              <a:cs typeface="Calibri"/>
            </a:endParaRPr>
          </a:p>
          <a:p>
            <a:pPr marL="228600" indent="-228600">
              <a:buFont typeface=""/>
              <a:buAutoNum type="arabicPeriod"/>
            </a:pPr>
            <a:r>
              <a:rPr lang="en-US" sz="2800"/>
              <a:t>Requires regular maintenance and updates</a:t>
            </a:r>
            <a:endParaRPr lang="en-US" sz="2800">
              <a:ea typeface="Calibri"/>
              <a:cs typeface="Calibri"/>
            </a:endParaRPr>
          </a:p>
          <a:p>
            <a:pPr marL="228600" indent="-228600">
              <a:buFont typeface=""/>
              <a:buAutoNum type="arabicPeriod"/>
            </a:pPr>
            <a:r>
              <a:rPr lang="en-US" sz="2800"/>
              <a:t>Depends on system performance and database</a:t>
            </a:r>
            <a:endParaRPr lang="en-US" sz="28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389767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49"/>
              </a:lnSpc>
            </a:pPr>
            <a:r>
              <a:rPr lang="en-US" sz="11153" b="1" i="1">
                <a:solidFill>
                  <a:srgbClr val="191919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Thank you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15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cp:revision>124</cp:revision>
  <dcterms:created xsi:type="dcterms:W3CDTF">2006-08-16T00:00:00Z</dcterms:created>
  <dcterms:modified xsi:type="dcterms:W3CDTF">2026-03-25T17:31:33Z</dcterms:modified>
  <dc:identifier>DAHCaYqJ9OU</dc:identifier>
</cp:coreProperties>
</file>